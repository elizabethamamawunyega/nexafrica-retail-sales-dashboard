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5308454-CF45-A082-E9CB-7DA604E5B029}">
          <p14:sldIdLst>
            <p14:sldId id="256"/>
            <p14:sldId id="257"/>
            <p14:sldId id="258"/>
          </p14:sldIdLst>
        </p14:section>
        <p14:section name="Findings" id="{5B38E2C1-BE8D-E9AC-ADEA-A93BEA609BCE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Actions" id="{87DFA659-EAF4-5F95-BA5C-A73640276B42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\$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</c:v>
                </c:pt>
                <c:pt idx="1">
                  <c:v>471</c:v>
                </c:pt>
                <c:pt idx="2">
                  <c:v>609</c:v>
                </c:pt>
                <c:pt idx="3">
                  <c:v>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ED-4A5A-A631-64F3CDAA2B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8AA8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8A8-4FFB-A929-28200B201B8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8A8-4FFB-A929-28200B201B8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8A8-4FFB-A929-28200B201B8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8A8-4FFB-A929-28200B201B8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8A8-4FFB-A929-28200B201B8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8A8-4FFB-A929-28200B201B8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8A8-4FFB-A929-28200B201B8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B8A8-4FFB-A929-28200B201B85}"/>
              </c:ext>
            </c:extLst>
          </c:dPt>
          <c:dPt>
            <c:idx val="8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8A8-4FFB-A929-28200B201B8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B8A8-4FFB-A929-28200B201B85}"/>
              </c:ext>
            </c:extLst>
          </c:dPt>
          <c:dPt>
            <c:idx val="10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B8A8-4FFB-A929-28200B201B85}"/>
              </c:ext>
            </c:extLst>
          </c:dPt>
          <c:dPt>
            <c:idx val="11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B8A8-4FFB-A929-28200B201B85}"/>
              </c:ext>
            </c:extLst>
          </c:dPt>
          <c:dLbls>
            <c:numFmt formatCode="\$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95</c:v>
                </c:pt>
                <c:pt idx="1">
                  <c:v>60</c:v>
                </c:pt>
                <c:pt idx="2">
                  <c:v>205</c:v>
                </c:pt>
                <c:pt idx="3">
                  <c:v>138</c:v>
                </c:pt>
                <c:pt idx="4">
                  <c:v>155</c:v>
                </c:pt>
                <c:pt idx="5">
                  <c:v>153</c:v>
                </c:pt>
                <c:pt idx="6">
                  <c:v>147</c:v>
                </c:pt>
                <c:pt idx="7">
                  <c:v>159</c:v>
                </c:pt>
                <c:pt idx="8">
                  <c:v>308</c:v>
                </c:pt>
                <c:pt idx="9">
                  <c:v>200</c:v>
                </c:pt>
                <c:pt idx="10">
                  <c:v>352</c:v>
                </c:pt>
                <c:pt idx="11">
                  <c:v>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B8A8-4FFB-A929-28200B201B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C8-46AB-AAE7-4C6D6B1530E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6C8-46AB-AAE7-4C6D6B1530E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6C8-46AB-AAE7-4C6D6B1530E9}"/>
              </c:ext>
            </c:extLst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6C8-46AB-AAE7-4C6D6B1530E9}"/>
              </c:ext>
            </c:extLst>
          </c:dPt>
          <c:dPt>
            <c:idx val="4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6C8-46AB-AAE7-4C6D6B1530E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0%</c:v>
                </c:pt>
                <c:pt idx="1">
                  <c:v>1-15%</c:v>
                </c:pt>
                <c:pt idx="2">
                  <c:v>16-25%</c:v>
                </c:pt>
                <c:pt idx="3">
                  <c:v>26-35%</c:v>
                </c:pt>
                <c:pt idx="4">
                  <c:v>Over 35%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29.5</c:v>
                </c:pt>
                <c:pt idx="1">
                  <c:v>12.8</c:v>
                </c:pt>
                <c:pt idx="2">
                  <c:v>11.8</c:v>
                </c:pt>
                <c:pt idx="3">
                  <c:v>-10.8</c:v>
                </c:pt>
                <c:pt idx="4">
                  <c:v>-50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6C8-46AB-AAE7-4C6D6B1530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-6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8AA8B0"/>
            </a:solidFill>
            <a:effectLst/>
          </c:spPr>
          <c:invertIfNegative val="0"/>
          <c:dLbls>
            <c:numFmt formatCode="\$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742</c:v>
                </c:pt>
                <c:pt idx="1">
                  <c:v>719</c:v>
                </c:pt>
                <c:pt idx="2">
                  <c:v>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C5-4D79-9678-FE993CCA887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\$#,##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</c:v>
                </c:pt>
                <c:pt idx="1">
                  <c:v>122</c:v>
                </c:pt>
                <c:pt idx="2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C5-4D79-9678-FE993CCA88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62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B8D-408E-AC6E-0A4CC462CB4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B8D-408E-AC6E-0A4CC462CB4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B8D-408E-AC6E-0A4CC462CB49}"/>
              </c:ext>
            </c:extLst>
          </c:dPt>
          <c:dPt>
            <c:idx val="3"/>
            <c:invertIfNegative val="0"/>
            <c:bubble3D val="0"/>
            <c:spPr>
              <a:solidFill>
                <a:srgbClr val="C855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B8D-408E-AC6E-0A4CC462CB4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West</c:v>
                </c:pt>
                <c:pt idx="1">
                  <c:v>East</c:v>
                </c:pt>
                <c:pt idx="2">
                  <c:v>South</c:v>
                </c:pt>
                <c:pt idx="3">
                  <c:v>Central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14.9</c:v>
                </c:pt>
                <c:pt idx="1">
                  <c:v>13.5</c:v>
                </c:pt>
                <c:pt idx="2">
                  <c:v>11.9</c:v>
                </c:pt>
                <c:pt idx="3">
                  <c:v>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B8D-408E-AC6E-0A4CC462CB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F0-46E2-AC0B-036CF7EF796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1F0-46E2-AC0B-036CF7EF796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1F0-46E2-AC0B-036CF7EF796D}"/>
              </c:ext>
            </c:extLst>
          </c:dPt>
          <c:dPt>
            <c:idx val="3"/>
            <c:invertIfNegative val="0"/>
            <c:bubble3D val="0"/>
            <c:spPr>
              <a:solidFill>
                <a:srgbClr val="8AA8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F0-46E2-AC0B-036CF7EF796D}"/>
              </c:ext>
            </c:extLst>
          </c:dPt>
          <c:dPt>
            <c:idx val="4"/>
            <c:invertIfNegative val="0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F0-46E2-AC0B-036CF7EF796D}"/>
              </c:ext>
            </c:extLst>
          </c:dPt>
          <c:dPt>
            <c:idx val="5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1F0-46E2-AC0B-036CF7EF796D}"/>
              </c:ext>
            </c:extLst>
          </c:dPt>
          <c:dPt>
            <c:idx val="6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1F0-46E2-AC0B-036CF7EF796D}"/>
              </c:ext>
            </c:extLst>
          </c:dPt>
          <c:dPt>
            <c:idx val="7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1F0-46E2-AC0B-036CF7EF796D}"/>
              </c:ext>
            </c:extLst>
          </c:dPt>
          <c:dPt>
            <c:idx val="8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81F0-46E2-AC0B-036CF7EF796D}"/>
              </c:ext>
            </c:extLst>
          </c:dPt>
          <c:dPt>
            <c:idx val="9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81F0-46E2-AC0B-036CF7EF796D}"/>
              </c:ext>
            </c:extLst>
          </c:dPt>
          <c:dLbls>
            <c:numFmt formatCode="\$#,##0.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Tables</c:v>
                </c:pt>
                <c:pt idx="1">
                  <c:v>Bookcases</c:v>
                </c:pt>
                <c:pt idx="2">
                  <c:v>Supplies</c:v>
                </c:pt>
                <c:pt idx="3">
                  <c:v>Fasteners</c:v>
                </c:pt>
                <c:pt idx="4">
                  <c:v>Machines</c:v>
                </c:pt>
                <c:pt idx="5">
                  <c:v>Binders</c:v>
                </c:pt>
                <c:pt idx="6">
                  <c:v>Paper</c:v>
                </c:pt>
                <c:pt idx="7">
                  <c:v>Accessories</c:v>
                </c:pt>
                <c:pt idx="8">
                  <c:v>Phones</c:v>
                </c:pt>
                <c:pt idx="9">
                  <c:v>Copiers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-17.7</c:v>
                </c:pt>
                <c:pt idx="1">
                  <c:v>-3.5</c:v>
                </c:pt>
                <c:pt idx="2">
                  <c:v>-1.2</c:v>
                </c:pt>
                <c:pt idx="3">
                  <c:v>1</c:v>
                </c:pt>
                <c:pt idx="4">
                  <c:v>3.4</c:v>
                </c:pt>
                <c:pt idx="5">
                  <c:v>30.2</c:v>
                </c:pt>
                <c:pt idx="6">
                  <c:v>34.1</c:v>
                </c:pt>
                <c:pt idx="7">
                  <c:v>41.9</c:v>
                </c:pt>
                <c:pt idx="8">
                  <c:v>44.5</c:v>
                </c:pt>
                <c:pt idx="9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81F0-46E2-AC0B-036CF7EF79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-3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8AA8B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High-Value</c:v>
                </c:pt>
                <c:pt idx="1">
                  <c:v>Medium-Value</c:v>
                </c:pt>
                <c:pt idx="2">
                  <c:v>Low-Value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20.100000000000001</c:v>
                </c:pt>
                <c:pt idx="1">
                  <c:v>30</c:v>
                </c:pt>
                <c:pt idx="2">
                  <c:v>49.9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E4-4902-A309-0DA2949EFB9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sales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High-Value</c:v>
                </c:pt>
                <c:pt idx="1">
                  <c:v>Medium-Value</c:v>
                </c:pt>
                <c:pt idx="2">
                  <c:v>Low-Value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48.1</c:v>
                </c:pt>
                <c:pt idx="1">
                  <c:v>32</c:v>
                </c:pt>
                <c:pt idx="2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E4-4902-A309-0DA2949EFB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62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still buying (%)</c:v>
                </c:pt>
              </c:strCache>
            </c:strRef>
          </c:tx>
          <c:spPr>
            <a:solidFill>
              <a:srgbClr val="8AA8B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9F-4780-B6A1-D10327444DDF}"/>
              </c:ext>
            </c:extLst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9F-4780-B6A1-D10327444DDF}"/>
              </c:ext>
            </c:extLst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9F-4780-B6A1-D10327444DDF}"/>
              </c:ext>
            </c:extLst>
          </c:dPt>
          <c:dPt>
            <c:idx val="3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9F-4780-B6A1-D10327444DDF}"/>
              </c:ext>
            </c:extLst>
          </c:dPt>
          <c:dPt>
            <c:idx val="4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9F-4780-B6A1-D10327444DDF}"/>
              </c:ext>
            </c:extLst>
          </c:dPt>
          <c:dPt>
            <c:idx val="5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9F-4780-B6A1-D10327444DDF}"/>
              </c:ext>
            </c:extLst>
          </c:dPt>
          <c:dPt>
            <c:idx val="6"/>
            <c:invertIfNegative val="0"/>
            <c:bubble3D val="0"/>
            <c:spPr>
              <a:solidFill>
                <a:srgbClr val="0B7A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B9F-4780-B6A1-D10327444DDF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5262C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 0</c:v>
                </c:pt>
                <c:pt idx="1">
                  <c:v>Month 1</c:v>
                </c:pt>
                <c:pt idx="2">
                  <c:v>Month 2</c:v>
                </c:pt>
                <c:pt idx="3">
                  <c:v>Month 3</c:v>
                </c:pt>
                <c:pt idx="4">
                  <c:v>Month 4</c:v>
                </c:pt>
                <c:pt idx="5">
                  <c:v>Month 5</c:v>
                </c:pt>
                <c:pt idx="6">
                  <c:v>Month 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12.1</c:v>
                </c:pt>
                <c:pt idx="2">
                  <c:v>19.100000000000001</c:v>
                </c:pt>
                <c:pt idx="3">
                  <c:v>15</c:v>
                </c:pt>
                <c:pt idx="4">
                  <c:v>15</c:v>
                </c:pt>
                <c:pt idx="5">
                  <c:v>16.2</c:v>
                </c:pt>
                <c:pt idx="6">
                  <c:v>17.899999999999999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B9F-4780-B6A1-D10327444D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526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67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four-year review of Superstore sales, covering revenue, products, regions, customers and discounts, ending in recommendations for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questions come straight from the project brief. The work moved through three tools: Excel for cleaning, MySQL for analysis and Power BI for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for the whole period. Profit margin is total profit divided by total sales, not an average of row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rose from $484K to $733K, a 51% increase, with 2016 the strongest year. Margin never moved out of a 10% to 13.4% band, so growth came from volume rather than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years combined. The autumn and winter peak is consistent, which matters for stock and staffing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falls from 29.5% with no discount to minus 50% above a 35% discount. Average units per line item barely change (3.81 at 0%, 3.88 above 35%), so deeper discounts are not buying larger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Furniture brings in $742K, 32% of sales, but only $18K of profit. Technology and Office Supplies earn about 17% margins. Within Furniture, Tables and Bookcases are the loss-makers.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Central has the lowest margin, 7.9% against 14.9% in West. Its average discount is 24.0% against 10.9% in West. West leads on both sales and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sub-categories shown: the five weakest and five strongest by profit. Machines (amber) is high-sales, low-profit. Tables and Bookcases lose money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Customers were ranked by lifetime sales: top 20% High-Value, next 30% Medium, bottom 50% Low. The High-Value group is 159 customers and brings in 48.1% of revenue. 155 customers have cost the business money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Cohorts are customers grouped by the month of their first purchase. The big drop happens immediately after the first order, then retention settles at 15% to 19%. September 2014 had the most new customers (68) but March 2014's cohort earned the most revenue, $222K.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action maps to a finding: discounts, Furniture, Central, early retention and the High-Value segment. The dataset has no cost field, so the Furniture review should check whether discounts, base prices or costs cause the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places where profit leaks. Fixing discount policy in these areas is the clearest route to higher profit without giving up sales.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82" y="72828"/>
            <a:ext cx="3100768" cy="24989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69366"/>
            <a:ext cx="2512313" cy="105851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80410" y="0"/>
            <a:ext cx="586359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2484" y="4754028"/>
            <a:ext cx="164752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787752" y="4754028"/>
            <a:ext cx="1044434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2832186" y="4756726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741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85" y="1282397"/>
            <a:ext cx="8222742" cy="33853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567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84792" y="1058519"/>
            <a:ext cx="2916308" cy="213417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84791" y="3302279"/>
            <a:ext cx="2916308" cy="84234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5568204" cy="51435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84791" y="4757967"/>
            <a:ext cx="157536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5890" y="4757967"/>
            <a:ext cx="110637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72050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9927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486" y="857250"/>
            <a:ext cx="6512815" cy="23213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86" y="3374136"/>
            <a:ext cx="5161093" cy="7612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35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4757967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66132" y="4757967"/>
            <a:ext cx="215629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4056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8" y="1401828"/>
            <a:ext cx="7002782" cy="3680197"/>
          </a:xfrm>
        </p:spPr>
        <p:txBody>
          <a:bodyPr>
            <a:normAutofit/>
          </a:bodyPr>
          <a:lstStyle>
            <a:lvl1pPr>
              <a:defRPr sz="55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486" y="103041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447" y="103041"/>
            <a:ext cx="165198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103041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93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4" y="78897"/>
            <a:ext cx="6767671" cy="158504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485" y="1863191"/>
            <a:ext cx="6350669" cy="2654636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350"/>
            </a:lvl1pPr>
            <a:lvl2pPr marL="514350" indent="-342900">
              <a:buFont typeface="+mj-lt"/>
              <a:buAutoNum type="arabicPeriod"/>
              <a:defRPr sz="1200"/>
            </a:lvl2pPr>
            <a:lvl3pPr marL="600075" indent="-257175">
              <a:buFont typeface="+mj-lt"/>
              <a:buAutoNum type="arabicPeriod"/>
              <a:defRPr sz="1050"/>
            </a:lvl3pPr>
            <a:lvl4pPr marL="771525" indent="-257175">
              <a:buFont typeface="+mj-lt"/>
              <a:buAutoNum type="arabicPeriod"/>
              <a:defRPr sz="1050"/>
            </a:lvl4pPr>
            <a:lvl5pPr marL="942975" indent="-257175"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131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80758" y="55306"/>
            <a:ext cx="5147622" cy="1665545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3424193" cy="51435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1" y="2044701"/>
            <a:ext cx="4437380" cy="2577592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500"/>
            </a:lvl1pPr>
            <a:lvl2pPr marL="428625" indent="-257175">
              <a:buFont typeface="+mj-lt"/>
              <a:buAutoNum type="arabicPeriod"/>
              <a:defRPr sz="1350"/>
            </a:lvl2pPr>
            <a:lvl3pPr marL="600075" indent="-257175">
              <a:buFont typeface="+mj-lt"/>
              <a:buAutoNum type="arabicPeriod"/>
              <a:defRPr sz="1200"/>
            </a:lvl3pPr>
            <a:lvl4pPr marL="771525" indent="-257175">
              <a:buFont typeface="+mj-lt"/>
              <a:buAutoNum type="arabicPeriod"/>
              <a:defRPr sz="1050"/>
            </a:lvl4pPr>
            <a:lvl5pPr>
              <a:buFont typeface="+mj-lt"/>
              <a:buAutoNum type="arabicPeriod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0" y="4757967"/>
            <a:ext cx="223905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51915" y="4757967"/>
            <a:ext cx="1164831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9317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09" y="1041525"/>
            <a:ext cx="2942591" cy="3062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67008" y="1041851"/>
            <a:ext cx="4534043" cy="3062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2673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530662"/>
            <a:ext cx="2512316" cy="204108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86151" y="531138"/>
            <a:ext cx="5196077" cy="4136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951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009" y="459486"/>
            <a:ext cx="4819792" cy="8572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420341" cy="51435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68027" y="1483866"/>
            <a:ext cx="4814201" cy="3214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67008" y="4757967"/>
            <a:ext cx="252367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73035" y="4757967"/>
            <a:ext cx="1545606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9929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126" y="355633"/>
            <a:ext cx="5212674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01752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4126" y="1220724"/>
            <a:ext cx="5212674" cy="35146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474126" y="4757967"/>
            <a:ext cx="256718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09275" y="4757967"/>
            <a:ext cx="161315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21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5" y="356616"/>
            <a:ext cx="5143500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5" y="1220724"/>
            <a:ext cx="5143500" cy="34015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6" y="4760153"/>
            <a:ext cx="210405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086890" y="4760153"/>
            <a:ext cx="2194190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281081" y="4760153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820399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15467"/>
            <a:ext cx="3370642" cy="99441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1481328"/>
            <a:ext cx="3370547" cy="31177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9582" y="4757967"/>
            <a:ext cx="157396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10239" y="4757967"/>
            <a:ext cx="1179778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97494" y="4757967"/>
            <a:ext cx="321905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0"/>
            <a:ext cx="489980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15154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73" y="322326"/>
            <a:ext cx="2743200" cy="12504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1867" y="1736677"/>
            <a:ext cx="2743200" cy="28611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1773" y="4757967"/>
            <a:ext cx="122800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027585" y="4757967"/>
            <a:ext cx="712325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2739910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71316" y="0"/>
            <a:ext cx="5472684" cy="51435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293473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6046" y="697166"/>
            <a:ext cx="2024441" cy="139420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51435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66791" y="2258501"/>
            <a:ext cx="2020010" cy="199218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66046" y="4757967"/>
            <a:ext cx="1053345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9392" y="4757967"/>
            <a:ext cx="64093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0323" y="4757967"/>
            <a:ext cx="32190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5959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4" y="3121738"/>
            <a:ext cx="2283716" cy="141960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875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28337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1778" y="3121739"/>
            <a:ext cx="5595022" cy="15686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dirty="0"/>
            </a:lvl2pPr>
            <a:lvl3pPr marL="342900" indent="0">
              <a:buNone/>
              <a:defRPr lang="en-US" dirty="0"/>
            </a:lvl3pPr>
            <a:lvl4pPr marL="514350" indent="0">
              <a:buNone/>
              <a:defRPr lang="en-US" dirty="0"/>
            </a:lvl4pPr>
            <a:lvl5pPr marL="685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815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19506"/>
            <a:ext cx="8227315" cy="69951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6" y="1434299"/>
            <a:ext cx="3477952" cy="31557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59485" y="4757967"/>
            <a:ext cx="198219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2916" y="1434704"/>
            <a:ext cx="4306494" cy="316825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264947" y="4757967"/>
            <a:ext cx="1087273" cy="273844"/>
          </a:xfrm>
        </p:spPr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352220" y="4757967"/>
            <a:ext cx="332295" cy="273844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436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530101"/>
            <a:ext cx="3504438" cy="952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0352" y="1630387"/>
            <a:ext cx="3423572" cy="297276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9172" y="549117"/>
            <a:ext cx="4257629" cy="4054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64414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70300"/>
            <a:ext cx="7321551" cy="794855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195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7220" y="363071"/>
            <a:ext cx="7907274" cy="3402106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02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92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49" y="31751"/>
            <a:ext cx="8637779" cy="462915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171450" indent="0">
              <a:lnSpc>
                <a:spcPct val="90000"/>
              </a:lnSpc>
              <a:buNone/>
              <a:defRPr sz="5400" b="1"/>
            </a:lvl2pPr>
            <a:lvl3pPr marL="342900" indent="0">
              <a:lnSpc>
                <a:spcPct val="90000"/>
              </a:lnSpc>
              <a:buNone/>
              <a:defRPr sz="4950" b="1"/>
            </a:lvl3pPr>
            <a:lvl4pPr marL="514350" indent="0">
              <a:lnSpc>
                <a:spcPct val="90000"/>
              </a:lnSpc>
              <a:buNone/>
              <a:defRPr sz="4500" b="1"/>
            </a:lvl4pPr>
            <a:lvl5pPr marL="685800" indent="0">
              <a:lnSpc>
                <a:spcPct val="90000"/>
              </a:lnSpc>
              <a:buNone/>
              <a:defRPr sz="405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45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24712" y="3771900"/>
            <a:ext cx="6899148" cy="48006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5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124712" y="891540"/>
            <a:ext cx="6899148" cy="2499360"/>
          </a:xfrm>
        </p:spPr>
        <p:txBody>
          <a:bodyPr anchor="ctr">
            <a:normAutofit/>
          </a:bodyPr>
          <a:lstStyle>
            <a:lvl1pPr marL="123444" indent="-123444">
              <a:lnSpc>
                <a:spcPct val="100000"/>
              </a:lnSpc>
              <a:spcBef>
                <a:spcPts val="0"/>
              </a:spcBef>
              <a:buNone/>
              <a:defRPr sz="36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8334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055864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9581" y="1369219"/>
            <a:ext cx="380619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8923" y="1369219"/>
            <a:ext cx="3806428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42272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8059341" cy="72694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90700"/>
            <a:ext cx="3806429" cy="28396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10351" y="1264301"/>
            <a:ext cx="380619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09874" y="1790700"/>
            <a:ext cx="3806667" cy="28396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3237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384048"/>
            <a:ext cx="8222742" cy="72694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93047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3340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" y="67356"/>
            <a:ext cx="8596502" cy="1885950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9581" y="2339068"/>
            <a:ext cx="8222646" cy="1965552"/>
          </a:xfrm>
        </p:spPr>
        <p:txBody>
          <a:bodyPr/>
          <a:lstStyle>
            <a:lvl1pPr marL="0" indent="0">
              <a:buNone/>
              <a:defRPr/>
            </a:lvl1pPr>
            <a:lvl2pPr marL="171450" indent="0">
              <a:buNone/>
              <a:defRPr/>
            </a:lvl2pPr>
            <a:lvl3pPr marL="342900" indent="0">
              <a:buNone/>
              <a:defRPr/>
            </a:lvl3pPr>
            <a:lvl4pPr marL="51435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27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1220489"/>
            <a:ext cx="6323075" cy="1381515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582" y="2717006"/>
            <a:ext cx="6322979" cy="1206006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171450" indent="0">
              <a:buNone/>
              <a:defRPr sz="1200"/>
            </a:lvl2pPr>
            <a:lvl3pPr marL="342900" indent="0">
              <a:buNone/>
              <a:defRPr sz="1050"/>
            </a:lvl3pPr>
            <a:lvl4pPr marL="514350" indent="0">
              <a:buNone/>
              <a:defRPr sz="1050"/>
            </a:lvl4pPr>
            <a:lvl5pPr marL="685800" indent="0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40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640080" y="1097280"/>
            <a:ext cx="5486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640080" y="301752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056652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244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54864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16002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75790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7" y="385987"/>
            <a:ext cx="8222741" cy="729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9485" y="1282397"/>
            <a:ext cx="8222742" cy="3385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9486" y="4757967"/>
            <a:ext cx="21040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70447" y="4757967"/>
            <a:ext cx="16519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60323" y="4757967"/>
            <a:ext cx="32190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26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6" r:id="rId23"/>
    <p:sldLayoutId id="2147483677" r:id="rId24"/>
    <p:sldLayoutId id="2147483678" r:id="rId25"/>
    <p:sldLayoutId id="2147483679" r:id="rId26"/>
    <p:sldLayoutId id="2147483680" r:id="rId27"/>
    <p:sldLayoutId id="2147483681" r:id="rId28"/>
    <p:sldLayoutId id="2147483682" r:id="rId29"/>
    <p:sldLayoutId id="2147483683" r:id="rId30"/>
  </p:sldLayoutIdLst>
  <p:hf sldNum="0" hdr="0" ftr="0" dt="0"/>
  <p:txStyles>
    <p:titleStyle>
      <a:lvl1pPr algn="l" defTabSz="685800" rtl="0" eaLnBrk="1" latinLnBrk="0" hangingPunct="1">
        <a:lnSpc>
          <a:spcPct val="95000"/>
        </a:lnSpc>
        <a:spcBef>
          <a:spcPct val="0"/>
        </a:spcBef>
        <a:buNone/>
        <a:defRPr sz="2100" b="1" kern="1200" spc="-23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Retail Sales Analytics Dashboard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3" name="Text 1"/>
          <p:cNvSpPr>
            <a:spLocks noGrp="1"/>
          </p:cNvSpPr>
          <p:nvPr>
            <p:ph type="body" idx="104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1"/>
                </a:solidFill>
              </a:rPr>
              <a:t>Superstore sales 2014 to 2017: findings and recommendations</a:t>
            </a:r>
          </a:p>
        </p:txBody>
      </p:sp>
      <p:sp>
        <p:nvSpPr>
          <p:cNvPr id="4" name="Programme name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/>
              <a:t>NexAfrica Data Analysis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What management needs to know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" name="Business questions"/>
          <p:cNvSpPr txBox="1"/>
          <p:nvPr/>
        </p:nvSpPr>
        <p:spPr>
          <a:xfrm>
            <a:off x="4572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How much revenue are we earning, and how profitably?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Which products, regions and customers drive results?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How are sales changing over time?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Where is money being lost?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What should management do next?</a:t>
            </a:r>
            <a:endParaRPr lang="en-US" sz="1800" dirty="0"/>
          </a:p>
        </p:txBody>
      </p:sp>
      <p:sp>
        <p:nvSpPr>
          <p:cNvPr id="4" name="Tool card 1"/>
          <p:cNvSpPr/>
          <p:nvPr/>
        </p:nvSpPr>
        <p:spPr>
          <a:xfrm>
            <a:off x="4937760" y="137160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ool number 1"/>
          <p:cNvSpPr/>
          <p:nvPr/>
        </p:nvSpPr>
        <p:spPr>
          <a:xfrm>
            <a:off x="5120640" y="1572768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ool numeral 1"/>
          <p:cNvSpPr txBox="1"/>
          <p:nvPr/>
        </p:nvSpPr>
        <p:spPr>
          <a:xfrm>
            <a:off x="512064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ool text 1"/>
          <p:cNvSpPr txBox="1"/>
          <p:nvPr/>
        </p:nvSpPr>
        <p:spPr>
          <a:xfrm>
            <a:off x="5806440" y="14630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Excel + Power Query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Cleaning and calculated fields</a:t>
            </a:r>
            <a:endParaRPr lang="en-US" sz="1600" dirty="0"/>
          </a:p>
        </p:txBody>
      </p:sp>
      <p:sp>
        <p:nvSpPr>
          <p:cNvPr id="8" name="Tool card 2"/>
          <p:cNvSpPr/>
          <p:nvPr/>
        </p:nvSpPr>
        <p:spPr>
          <a:xfrm>
            <a:off x="4937760" y="246888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ool number 2"/>
          <p:cNvSpPr/>
          <p:nvPr/>
        </p:nvSpPr>
        <p:spPr>
          <a:xfrm>
            <a:off x="5120640" y="2670048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ool numeral 2"/>
          <p:cNvSpPr txBox="1"/>
          <p:nvPr/>
        </p:nvSpPr>
        <p:spPr>
          <a:xfrm>
            <a:off x="5120640" y="2670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ool text 2"/>
          <p:cNvSpPr txBox="1"/>
          <p:nvPr/>
        </p:nvSpPr>
        <p:spPr>
          <a:xfrm>
            <a:off x="5806440" y="256032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MySQL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KPIs, segments, cohorts, discounts</a:t>
            </a:r>
            <a:endParaRPr lang="en-US" sz="1600" dirty="0"/>
          </a:p>
        </p:txBody>
      </p:sp>
      <p:sp>
        <p:nvSpPr>
          <p:cNvPr id="12" name="Tool card 3"/>
          <p:cNvSpPr/>
          <p:nvPr/>
        </p:nvSpPr>
        <p:spPr>
          <a:xfrm>
            <a:off x="4937760" y="3566160"/>
            <a:ext cx="37490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ool number 3"/>
          <p:cNvSpPr/>
          <p:nvPr/>
        </p:nvSpPr>
        <p:spPr>
          <a:xfrm>
            <a:off x="5120640" y="3767328"/>
            <a:ext cx="512064" cy="51206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ool numeral 3"/>
          <p:cNvSpPr txBox="1"/>
          <p:nvPr/>
        </p:nvSpPr>
        <p:spPr>
          <a:xfrm>
            <a:off x="5120640" y="3767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ool text 3"/>
          <p:cNvSpPr txBox="1"/>
          <p:nvPr/>
        </p:nvSpPr>
        <p:spPr>
          <a:xfrm>
            <a:off x="5806440" y="36576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Power BI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Four-page interactive dashboard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A $2.3M business earning a 12.5% margin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" name="KPI Total sales card"/>
          <p:cNvSpPr/>
          <p:nvPr/>
        </p:nvSpPr>
        <p:spPr>
          <a:xfrm>
            <a:off x="45720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KPI Total sales value"/>
          <p:cNvSpPr txBox="1"/>
          <p:nvPr/>
        </p:nvSpPr>
        <p:spPr>
          <a:xfrm>
            <a:off x="64008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$2.30M</a:t>
            </a:r>
            <a:endParaRPr lang="en-US" sz="3600" dirty="0"/>
          </a:p>
        </p:txBody>
      </p:sp>
      <p:sp>
        <p:nvSpPr>
          <p:cNvPr id="5" name="KPI Total sales label"/>
          <p:cNvSpPr txBox="1"/>
          <p:nvPr/>
        </p:nvSpPr>
        <p:spPr>
          <a:xfrm>
            <a:off x="64008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sales</a:t>
            </a:r>
            <a:endParaRPr lang="en-US" sz="1400" dirty="0"/>
          </a:p>
        </p:txBody>
      </p:sp>
      <p:sp>
        <p:nvSpPr>
          <p:cNvPr id="6" name="KPI Total profit card"/>
          <p:cNvSpPr/>
          <p:nvPr/>
        </p:nvSpPr>
        <p:spPr>
          <a:xfrm>
            <a:off x="329184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KPI Total profit value"/>
          <p:cNvSpPr txBox="1"/>
          <p:nvPr/>
        </p:nvSpPr>
        <p:spPr>
          <a:xfrm>
            <a:off x="347472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$286K</a:t>
            </a:r>
            <a:endParaRPr lang="en-US" sz="3600" dirty="0"/>
          </a:p>
        </p:txBody>
      </p:sp>
      <p:sp>
        <p:nvSpPr>
          <p:cNvPr id="8" name="KPI Total profit label"/>
          <p:cNvSpPr txBox="1"/>
          <p:nvPr/>
        </p:nvSpPr>
        <p:spPr>
          <a:xfrm>
            <a:off x="347472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profit</a:t>
            </a:r>
            <a:endParaRPr lang="en-US" sz="1400" dirty="0"/>
          </a:p>
        </p:txBody>
      </p:sp>
      <p:sp>
        <p:nvSpPr>
          <p:cNvPr id="9" name="KPI Profit margin card"/>
          <p:cNvSpPr/>
          <p:nvPr/>
        </p:nvSpPr>
        <p:spPr>
          <a:xfrm>
            <a:off x="6126480" y="132588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KPI Profit margin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12.5%</a:t>
            </a:r>
            <a:endParaRPr lang="en-US" sz="3600" dirty="0"/>
          </a:p>
        </p:txBody>
      </p:sp>
      <p:sp>
        <p:nvSpPr>
          <p:cNvPr id="11" name="KPI Profit margin label"/>
          <p:cNvSpPr txBox="1"/>
          <p:nvPr/>
        </p:nvSpPr>
        <p:spPr>
          <a:xfrm>
            <a:off x="6309360" y="2103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Profit margin</a:t>
            </a:r>
            <a:endParaRPr lang="en-US" sz="1400" dirty="0"/>
          </a:p>
        </p:txBody>
      </p:sp>
      <p:sp>
        <p:nvSpPr>
          <p:cNvPr id="12" name="KPI Orders card"/>
          <p:cNvSpPr/>
          <p:nvPr/>
        </p:nvSpPr>
        <p:spPr>
          <a:xfrm>
            <a:off x="457200" y="28803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KPI Orders value"/>
          <p:cNvSpPr txBox="1"/>
          <p:nvPr/>
        </p:nvSpPr>
        <p:spPr>
          <a:xfrm>
            <a:off x="640080" y="29900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5,009</a:t>
            </a:r>
            <a:endParaRPr lang="en-US" sz="3600" dirty="0"/>
          </a:p>
        </p:txBody>
      </p:sp>
      <p:sp>
        <p:nvSpPr>
          <p:cNvPr id="14" name="KPI Orders label"/>
          <p:cNvSpPr txBox="1"/>
          <p:nvPr/>
        </p:nvSpPr>
        <p:spPr>
          <a:xfrm>
            <a:off x="64008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Orders</a:t>
            </a:r>
            <a:endParaRPr lang="en-US" sz="1400" dirty="0"/>
          </a:p>
        </p:txBody>
      </p:sp>
      <p:sp>
        <p:nvSpPr>
          <p:cNvPr id="15" name="KPI Customers card"/>
          <p:cNvSpPr/>
          <p:nvPr/>
        </p:nvSpPr>
        <p:spPr>
          <a:xfrm>
            <a:off x="3291840" y="28803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KPI Customers value"/>
          <p:cNvSpPr txBox="1"/>
          <p:nvPr/>
        </p:nvSpPr>
        <p:spPr>
          <a:xfrm>
            <a:off x="3474720" y="29900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793</a:t>
            </a:r>
            <a:endParaRPr lang="en-US" sz="3600" dirty="0"/>
          </a:p>
        </p:txBody>
      </p:sp>
      <p:sp>
        <p:nvSpPr>
          <p:cNvPr id="17" name="KPI Customers label"/>
          <p:cNvSpPr txBox="1"/>
          <p:nvPr/>
        </p:nvSpPr>
        <p:spPr>
          <a:xfrm>
            <a:off x="347472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</a:t>
            </a:r>
            <a:endParaRPr lang="en-US" sz="1400" dirty="0"/>
          </a:p>
        </p:txBody>
      </p:sp>
      <p:sp>
        <p:nvSpPr>
          <p:cNvPr id="18" name="KPI Average order value card"/>
          <p:cNvSpPr/>
          <p:nvPr/>
        </p:nvSpPr>
        <p:spPr>
          <a:xfrm>
            <a:off x="6126480" y="2880360"/>
            <a:ext cx="25603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KPI Average order value value"/>
          <p:cNvSpPr txBox="1"/>
          <p:nvPr/>
        </p:nvSpPr>
        <p:spPr>
          <a:xfrm>
            <a:off x="6309360" y="299008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$459</a:t>
            </a:r>
            <a:endParaRPr lang="en-US" sz="3600" dirty="0"/>
          </a:p>
        </p:txBody>
      </p:sp>
      <p:sp>
        <p:nvSpPr>
          <p:cNvPr id="20" name="KPI Average order value label"/>
          <p:cNvSpPr txBox="1"/>
          <p:nvPr/>
        </p:nvSpPr>
        <p:spPr>
          <a:xfrm>
            <a:off x="6309360" y="3657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order value</a:t>
            </a:r>
            <a:endParaRPr lang="en-US" sz="1400" dirty="0"/>
          </a:p>
        </p:txBody>
      </p:sp>
      <p:sp>
        <p:nvSpPr>
          <p:cNvPr id="21" name="KPI caption"/>
          <p:cNvSpPr txBox="1"/>
          <p:nvPr/>
        </p:nvSpPr>
        <p:spPr>
          <a:xfrm>
            <a:off x="457200" y="4434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E75"/>
                </a:solidFill>
              </a:rPr>
              <a:t>37,873 units sold  |  January 2014 to December 2017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Sales grew 51%, but margin stayed flat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25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Margin panel"/>
          <p:cNvSpPr/>
          <p:nvPr/>
        </p:nvSpPr>
        <p:spPr>
          <a:xfrm>
            <a:off x="5852160" y="1325880"/>
            <a:ext cx="2834640" cy="329184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Margin panel heading"/>
          <p:cNvSpPr txBox="1"/>
          <p:nvPr/>
        </p:nvSpPr>
        <p:spPr>
          <a:xfrm>
            <a:off x="6035040" y="1463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Profit margin by year</a:t>
            </a:r>
            <a:endParaRPr lang="en-US" sz="1600" dirty="0"/>
          </a:p>
        </p:txBody>
      </p:sp>
      <p:sp>
        <p:nvSpPr>
          <p:cNvPr id="6" name="Margin year 2014"/>
          <p:cNvSpPr txBox="1"/>
          <p:nvPr/>
        </p:nvSpPr>
        <p:spPr>
          <a:xfrm>
            <a:off x="6035040" y="19202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2014</a:t>
            </a:r>
            <a:endParaRPr lang="en-US" sz="1600" dirty="0"/>
          </a:p>
        </p:txBody>
      </p:sp>
      <p:sp>
        <p:nvSpPr>
          <p:cNvPr id="7" name="Margin value 2014"/>
          <p:cNvSpPr txBox="1"/>
          <p:nvPr/>
        </p:nvSpPr>
        <p:spPr>
          <a:xfrm>
            <a:off x="7132320" y="1920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10.2%</a:t>
            </a:r>
            <a:endParaRPr lang="en-US" sz="1600" dirty="0"/>
          </a:p>
        </p:txBody>
      </p:sp>
      <p:sp>
        <p:nvSpPr>
          <p:cNvPr id="8" name="Margin year 2015"/>
          <p:cNvSpPr txBox="1"/>
          <p:nvPr/>
        </p:nvSpPr>
        <p:spPr>
          <a:xfrm>
            <a:off x="6035040" y="23042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2015</a:t>
            </a:r>
            <a:endParaRPr lang="en-US" sz="1600" dirty="0"/>
          </a:p>
        </p:txBody>
      </p:sp>
      <p:sp>
        <p:nvSpPr>
          <p:cNvPr id="9" name="Margin value 2015"/>
          <p:cNvSpPr txBox="1"/>
          <p:nvPr/>
        </p:nvSpPr>
        <p:spPr>
          <a:xfrm>
            <a:off x="7132320" y="23042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13.1%</a:t>
            </a:r>
            <a:endParaRPr lang="en-US" sz="1600" dirty="0"/>
          </a:p>
        </p:txBody>
      </p:sp>
      <p:sp>
        <p:nvSpPr>
          <p:cNvPr id="10" name="Margin year 2016"/>
          <p:cNvSpPr txBox="1"/>
          <p:nvPr/>
        </p:nvSpPr>
        <p:spPr>
          <a:xfrm>
            <a:off x="6035040" y="26883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2016</a:t>
            </a:r>
            <a:endParaRPr lang="en-US" sz="1600" dirty="0"/>
          </a:p>
        </p:txBody>
      </p:sp>
      <p:sp>
        <p:nvSpPr>
          <p:cNvPr id="11" name="Margin value 2016"/>
          <p:cNvSpPr txBox="1"/>
          <p:nvPr/>
        </p:nvSpPr>
        <p:spPr>
          <a:xfrm>
            <a:off x="7132320" y="26883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13.4%</a:t>
            </a:r>
            <a:endParaRPr lang="en-US" sz="1600" dirty="0"/>
          </a:p>
        </p:txBody>
      </p:sp>
      <p:sp>
        <p:nvSpPr>
          <p:cNvPr id="12" name="Margin year 2017"/>
          <p:cNvSpPr txBox="1"/>
          <p:nvPr/>
        </p:nvSpPr>
        <p:spPr>
          <a:xfrm>
            <a:off x="6035040" y="30723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2017</a:t>
            </a:r>
            <a:endParaRPr lang="en-US" sz="1600" dirty="0"/>
          </a:p>
        </p:txBody>
      </p:sp>
      <p:sp>
        <p:nvSpPr>
          <p:cNvPr id="13" name="Margin value 2017"/>
          <p:cNvSpPr txBox="1"/>
          <p:nvPr/>
        </p:nvSpPr>
        <p:spPr>
          <a:xfrm>
            <a:off x="7132320" y="30723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chemeClr val="tx2"/>
                </a:solidFill>
              </a:rPr>
              <a:t>12.7%</a:t>
            </a:r>
            <a:endParaRPr lang="en-US" sz="1600" dirty="0"/>
          </a:p>
        </p:txBody>
      </p:sp>
      <p:sp>
        <p:nvSpPr>
          <p:cNvPr id="14" name="Growth takeaway"/>
          <p:cNvSpPr txBox="1"/>
          <p:nvPr/>
        </p:nvSpPr>
        <p:spPr>
          <a:xfrm>
            <a:off x="6035040" y="3566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More orders (969 to 1,687) drove growth, not better margins.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Sales peak every September, November and December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82296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easonality takeaway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September, November and December bring in 43% of all sales. February is the weakest month. Figures combine 2014 to 2017.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Discounts above 25% lose money without selling more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2588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Units stat card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Units stat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3.8 to 3.9</a:t>
            </a:r>
            <a:endParaRPr lang="en-US" sz="2800" dirty="0"/>
          </a:p>
        </p:txBody>
      </p:sp>
      <p:sp>
        <p:nvSpPr>
          <p:cNvPr id="6" name="Units stat label"/>
          <p:cNvSpPr txBox="1"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units per line item at every discount level</a:t>
            </a:r>
            <a:endParaRPr lang="en-US" sz="1400" dirty="0"/>
          </a:p>
        </p:txBody>
      </p:sp>
      <p:sp>
        <p:nvSpPr>
          <p:cNvPr id="7" name="Margin stat card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Margin stat value"/>
          <p:cNvSpPr txBox="1"/>
          <p:nvPr/>
        </p:nvSpPr>
        <p:spPr>
          <a:xfrm>
            <a:off x="630936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−50%</a:t>
            </a:r>
            <a:endParaRPr lang="en-US" sz="3400" dirty="0"/>
          </a:p>
        </p:txBody>
      </p:sp>
      <p:sp>
        <p:nvSpPr>
          <p:cNvPr id="9" name="Margin stat label"/>
          <p:cNvSpPr txBox="1"/>
          <p:nvPr/>
        </p:nvSpPr>
        <p:spPr>
          <a:xfrm>
            <a:off x="630936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profit margin on items discounted over 35%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Furniture is a third of sales but earns almost nothing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3949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Furniture note"/>
          <p:cNvSpPr txBox="1"/>
          <p:nvPr/>
        </p:nvSpPr>
        <p:spPr>
          <a:xfrm>
            <a:off x="457200" y="41605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Tables lost $17.7K and Bookcases $3.5K, and Furniture has the highest average discount.</a:t>
            </a:r>
            <a:endParaRPr lang="en-US" sz="1400" dirty="0"/>
          </a:p>
        </p:txBody>
      </p:sp>
      <p:sp>
        <p:nvSpPr>
          <p:cNvPr id="5" name="Furniture stat card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Furniture stat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2.5%</a:t>
            </a:r>
            <a:endParaRPr lang="en-US" sz="3400" dirty="0"/>
          </a:p>
        </p:txBody>
      </p:sp>
      <p:sp>
        <p:nvSpPr>
          <p:cNvPr id="7" name="Furniture stat label"/>
          <p:cNvSpPr txBox="1"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Furniture profit margin</a:t>
            </a:r>
            <a:endParaRPr lang="en-US" sz="1400" dirty="0"/>
          </a:p>
        </p:txBody>
      </p:sp>
      <p:sp>
        <p:nvSpPr>
          <p:cNvPr id="8" name="Other stat card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Other stat value"/>
          <p:cNvSpPr txBox="1"/>
          <p:nvPr/>
        </p:nvSpPr>
        <p:spPr>
          <a:xfrm>
            <a:off x="630936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17%</a:t>
            </a:r>
            <a:endParaRPr lang="en-US" sz="3400" dirty="0"/>
          </a:p>
        </p:txBody>
      </p:sp>
      <p:sp>
        <p:nvSpPr>
          <p:cNvPr id="10" name="Other stat label"/>
          <p:cNvSpPr txBox="1"/>
          <p:nvPr/>
        </p:nvSpPr>
        <p:spPr>
          <a:xfrm>
            <a:off x="630936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margin for Technology and Office Supplies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Central: deepest discounts, lowest margin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325880"/>
          <a:ext cx="53949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entral stat card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entral stat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24%</a:t>
            </a:r>
            <a:endParaRPr lang="en-US" sz="3400" dirty="0"/>
          </a:p>
        </p:txBody>
      </p:sp>
      <p:sp>
        <p:nvSpPr>
          <p:cNvPr id="6" name="Central stat label"/>
          <p:cNvSpPr txBox="1"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discount in Central</a:t>
            </a:r>
            <a:endParaRPr lang="en-US" sz="1400" dirty="0"/>
          </a:p>
        </p:txBody>
      </p:sp>
      <p:sp>
        <p:nvSpPr>
          <p:cNvPr id="7" name="West stat card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West stat value"/>
          <p:cNvSpPr txBox="1"/>
          <p:nvPr/>
        </p:nvSpPr>
        <p:spPr>
          <a:xfrm>
            <a:off x="630936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11%</a:t>
            </a:r>
            <a:endParaRPr lang="en-US" sz="3400" dirty="0"/>
          </a:p>
        </p:txBody>
      </p:sp>
      <p:sp>
        <p:nvSpPr>
          <p:cNvPr id="9" name="West stat label"/>
          <p:cNvSpPr txBox="1"/>
          <p:nvPr/>
        </p:nvSpPr>
        <p:spPr>
          <a:xfrm>
            <a:off x="630936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discount in West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Tables and Bookcases lose money; Copiers lead profit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Product note 1"/>
          <p:cNvSpPr txBox="1"/>
          <p:nvPr/>
        </p:nvSpPr>
        <p:spPr>
          <a:xfrm>
            <a:off x="6217920" y="13716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Priority fix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Tables and Machines sell well but earn little</a:t>
            </a:r>
            <a:endParaRPr lang="en-US" sz="1400" dirty="0"/>
          </a:p>
        </p:txBody>
      </p:sp>
      <p:sp>
        <p:nvSpPr>
          <p:cNvPr id="5" name="Product note 2"/>
          <p:cNvSpPr txBox="1"/>
          <p:nvPr/>
        </p:nvSpPr>
        <p:spPr>
          <a:xfrm>
            <a:off x="6217920" y="246888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Top product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Canon imageCLASS 2200 leads on sales and profit</a:t>
            </a:r>
            <a:endParaRPr lang="en-US" sz="1400" dirty="0"/>
          </a:p>
        </p:txBody>
      </p:sp>
      <p:sp>
        <p:nvSpPr>
          <p:cNvPr id="6" name="Product note 3"/>
          <p:cNvSpPr txBox="1"/>
          <p:nvPr/>
        </p:nvSpPr>
        <p:spPr>
          <a:xfrm>
            <a:off x="621792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Biggest loss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Cubify CubeX 3D Printer lost $8.9K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20% of customers generate 48% of sales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High-Value stat card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High-Value stat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159</a:t>
            </a:r>
            <a:endParaRPr lang="en-US" sz="3400" dirty="0"/>
          </a:p>
        </p:txBody>
      </p:sp>
      <p:sp>
        <p:nvSpPr>
          <p:cNvPr id="6" name="High-Value stat label"/>
          <p:cNvSpPr txBox="1"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High-Value customers (top 20% by sales)</a:t>
            </a:r>
            <a:endParaRPr lang="en-US" sz="1400" dirty="0"/>
          </a:p>
        </p:txBody>
      </p:sp>
      <p:sp>
        <p:nvSpPr>
          <p:cNvPr id="7" name="Loss customers stat card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Loss customers stat value"/>
          <p:cNvSpPr txBox="1"/>
          <p:nvPr/>
        </p:nvSpPr>
        <p:spPr>
          <a:xfrm>
            <a:off x="630936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155</a:t>
            </a:r>
            <a:endParaRPr lang="en-US" sz="3400" dirty="0"/>
          </a:p>
        </p:txBody>
      </p:sp>
      <p:sp>
        <p:nvSpPr>
          <p:cNvPr id="9" name="Loss customers stat label"/>
          <p:cNvSpPr txBox="1"/>
          <p:nvPr/>
        </p:nvSpPr>
        <p:spPr>
          <a:xfrm>
            <a:off x="630936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with negative lifetime profit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Only 12% of customers return the next month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28016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tention caption"/>
          <p:cNvSpPr txBox="1"/>
          <p:nvPr/>
        </p:nvSpPr>
        <p:spPr>
          <a:xfrm>
            <a:off x="457200" y="4343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E75"/>
                </a:solidFill>
              </a:rPr>
              <a:t>Average across monthly cohorts. Month 0 is the first purchase, so it is always 100%.</a:t>
            </a:r>
            <a:endParaRPr lang="en-US" sz="1200" dirty="0"/>
          </a:p>
        </p:txBody>
      </p:sp>
      <p:sp>
        <p:nvSpPr>
          <p:cNvPr id="5" name="Retention stat card"/>
          <p:cNvSpPr/>
          <p:nvPr/>
        </p:nvSpPr>
        <p:spPr>
          <a:xfrm>
            <a:off x="6126480" y="132588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Retention stat value"/>
          <p:cNvSpPr txBox="1"/>
          <p:nvPr/>
        </p:nvSpPr>
        <p:spPr>
          <a:xfrm>
            <a:off x="6309360" y="143560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12.1%</a:t>
            </a:r>
            <a:endParaRPr lang="en-US" sz="3400" dirty="0"/>
          </a:p>
        </p:txBody>
      </p:sp>
      <p:sp>
        <p:nvSpPr>
          <p:cNvPr id="7" name="Retention stat label"/>
          <p:cNvSpPr txBox="1"/>
          <p:nvPr/>
        </p:nvSpPr>
        <p:spPr>
          <a:xfrm>
            <a:off x="6309360" y="21031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buy again in the month after their first order</a:t>
            </a:r>
            <a:endParaRPr lang="en-US" sz="1400" dirty="0"/>
          </a:p>
        </p:txBody>
      </p:sp>
      <p:sp>
        <p:nvSpPr>
          <p:cNvPr id="8" name="Cohort stat card"/>
          <p:cNvSpPr/>
          <p:nvPr/>
        </p:nvSpPr>
        <p:spPr>
          <a:xfrm>
            <a:off x="6126480" y="3063240"/>
            <a:ext cx="256032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ohort stat value"/>
          <p:cNvSpPr txBox="1"/>
          <p:nvPr/>
        </p:nvSpPr>
        <p:spPr>
          <a:xfrm>
            <a:off x="6309360" y="31729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68</a:t>
            </a:r>
            <a:endParaRPr lang="en-US" sz="3400" dirty="0"/>
          </a:p>
        </p:txBody>
      </p:sp>
      <p:sp>
        <p:nvSpPr>
          <p:cNvPr id="10" name="Cohort stat label"/>
          <p:cNvSpPr txBox="1"/>
          <p:nvPr/>
        </p:nvSpPr>
        <p:spPr>
          <a:xfrm>
            <a:off x="6309360" y="3840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new customers in Sep 2014, the largest cohort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</a:rPr>
              <a:t>Five actions for management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A6E7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3" name="Recommendation card 1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Recommendation circle 1"/>
          <p:cNvSpPr/>
          <p:nvPr/>
        </p:nvSpPr>
        <p:spPr>
          <a:xfrm>
            <a:off x="594360" y="1399032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Recommendation numeral 1"/>
          <p:cNvSpPr txBox="1"/>
          <p:nvPr/>
        </p:nvSpPr>
        <p:spPr>
          <a:xfrm>
            <a:off x="594360" y="1399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Recommendation text 1"/>
          <p:cNvSpPr txBox="1"/>
          <p:nvPr/>
        </p:nvSpPr>
        <p:spPr>
          <a:xfrm>
            <a:off x="1188720" y="1362456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tx2"/>
                </a:solidFill>
              </a:rPr>
              <a:t>Limit discounts to a maximum of 20% to 25%.</a:t>
            </a:r>
            <a:r>
              <a:rPr lang="en-US" sz="1400" dirty="0">
                <a:solidFill>
                  <a:schemeClr val="tx1"/>
                </a:solidFill>
              </a:rPr>
              <a:t> Beyond that, margin turns negative with no gain in units sold.</a:t>
            </a:r>
            <a:endParaRPr lang="en-US" sz="1400" dirty="0"/>
          </a:p>
        </p:txBody>
      </p:sp>
      <p:sp>
        <p:nvSpPr>
          <p:cNvPr id="7" name="Recommendation card 2"/>
          <p:cNvSpPr/>
          <p:nvPr/>
        </p:nvSpPr>
        <p:spPr>
          <a:xfrm>
            <a:off x="457200" y="1984248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Recommendation circle 2"/>
          <p:cNvSpPr/>
          <p:nvPr/>
        </p:nvSpPr>
        <p:spPr>
          <a:xfrm>
            <a:off x="594360" y="2057400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Recommendation numeral 2"/>
          <p:cNvSpPr txBox="1"/>
          <p:nvPr/>
        </p:nvSpPr>
        <p:spPr>
          <a:xfrm>
            <a:off x="5943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Recommendation text 2"/>
          <p:cNvSpPr txBox="1"/>
          <p:nvPr/>
        </p:nvSpPr>
        <p:spPr>
          <a:xfrm>
            <a:off x="1188720" y="2020824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Review Furniture pricing and discounts,</a:t>
            </a:r>
            <a:r>
              <a:rPr lang="en-US" sz="1400" dirty="0">
                <a:solidFill>
                  <a:schemeClr val="tx1"/>
                </a:solidFill>
              </a:rPr>
              <a:t> starting with Tables and Bookcases, which lose money.</a:t>
            </a:r>
            <a:endParaRPr lang="en-US" sz="1400" dirty="0"/>
          </a:p>
        </p:txBody>
      </p:sp>
      <p:sp>
        <p:nvSpPr>
          <p:cNvPr id="11" name="Recommendation card 3"/>
          <p:cNvSpPr/>
          <p:nvPr/>
        </p:nvSpPr>
        <p:spPr>
          <a:xfrm>
            <a:off x="457200" y="2642616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Recommendation circle 3"/>
          <p:cNvSpPr/>
          <p:nvPr/>
        </p:nvSpPr>
        <p:spPr>
          <a:xfrm>
            <a:off x="594360" y="2715768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Recommendation numeral 3"/>
          <p:cNvSpPr txBox="1"/>
          <p:nvPr/>
        </p:nvSpPr>
        <p:spPr>
          <a:xfrm>
            <a:off x="594360" y="2715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Recommendation text 3"/>
          <p:cNvSpPr txBox="1"/>
          <p:nvPr/>
        </p:nvSpPr>
        <p:spPr>
          <a:xfrm>
            <a:off x="1188720" y="2679192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Tighten discount approval in Central</a:t>
            </a:r>
            <a:r>
              <a:rPr lang="en-US" sz="1400" dirty="0">
                <a:solidFill>
                  <a:schemeClr val="tx1"/>
                </a:solidFill>
              </a:rPr>
              <a:t> to move toward West's 11% average discount.</a:t>
            </a:r>
            <a:endParaRPr lang="en-US" sz="1400" dirty="0"/>
          </a:p>
        </p:txBody>
      </p:sp>
      <p:sp>
        <p:nvSpPr>
          <p:cNvPr id="15" name="Recommendation card 4"/>
          <p:cNvSpPr/>
          <p:nvPr/>
        </p:nvSpPr>
        <p:spPr>
          <a:xfrm>
            <a:off x="457200" y="3300984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Recommendation circle 4"/>
          <p:cNvSpPr/>
          <p:nvPr/>
        </p:nvSpPr>
        <p:spPr>
          <a:xfrm>
            <a:off x="594360" y="3374136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Recommendation numeral 4"/>
          <p:cNvSpPr txBox="1"/>
          <p:nvPr/>
        </p:nvSpPr>
        <p:spPr>
          <a:xfrm>
            <a:off x="59436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Recommendation text 4"/>
          <p:cNvSpPr txBox="1"/>
          <p:nvPr/>
        </p:nvSpPr>
        <p:spPr>
          <a:xfrm>
            <a:off x="1188720" y="333756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Re-engage new customers within 30 days</a:t>
            </a:r>
            <a:r>
              <a:rPr lang="en-US" sz="1400" dirty="0">
                <a:solidFill>
                  <a:schemeClr val="tx1"/>
                </a:solidFill>
              </a:rPr>
              <a:t> of their first order, when most of them stop buying.</a:t>
            </a:r>
            <a:endParaRPr lang="en-US" sz="1400" dirty="0"/>
          </a:p>
        </p:txBody>
      </p:sp>
      <p:sp>
        <p:nvSpPr>
          <p:cNvPr id="19" name="Recommendation card 5"/>
          <p:cNvSpPr/>
          <p:nvPr/>
        </p:nvSpPr>
        <p:spPr>
          <a:xfrm>
            <a:off x="457200" y="3959352"/>
            <a:ext cx="82296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Recommendation circle 5"/>
          <p:cNvSpPr/>
          <p:nvPr/>
        </p:nvSpPr>
        <p:spPr>
          <a:xfrm>
            <a:off x="594360" y="4032504"/>
            <a:ext cx="420624" cy="420624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Recommendation numeral 5"/>
          <p:cNvSpPr txBox="1"/>
          <p:nvPr/>
        </p:nvSpPr>
        <p:spPr>
          <a:xfrm>
            <a:off x="59436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Recommendation text 5"/>
          <p:cNvSpPr txBox="1"/>
          <p:nvPr/>
        </p:nvSpPr>
        <p:spPr>
          <a:xfrm>
            <a:off x="1188720" y="3995928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Protect High-Value customers</a:t>
            </a:r>
            <a:r>
              <a:rPr lang="en-US" sz="1400" dirty="0">
                <a:solidFill>
                  <a:schemeClr val="tx1"/>
                </a:solidFill>
              </a:rPr>
              <a:t> and back proven winners such as Copiers and Phones.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Fix discounting, not demand</a:t>
            </a:r>
            <a:endParaRPr lang="en-US" sz="4000" dirty="0"/>
          </a:p>
        </p:txBody>
      </p:sp>
      <p:sp>
        <p:nvSpPr>
          <p:cNvPr id="3" name="Text 1"/>
          <p:cNvSpPr>
            <a:spLocks noGrp="1"/>
          </p:cNvSpPr>
          <p:nvPr>
            <p:ph type="body" idx="102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tx1"/>
                </a:solidFill>
              </a:rPr>
              <a:t>Sales are growing and demand is healthy. Profit is being lost in specific, fixable places.</a:t>
            </a:r>
          </a:p>
        </p:txBody>
      </p:sp>
      <p:sp>
        <p:nvSpPr>
          <p:cNvPr id="4" name="Closing card 1"/>
          <p:cNvSpPr/>
          <p:nvPr/>
        </p:nvSpPr>
        <p:spPr>
          <a:xfrm>
            <a:off x="640080" y="292608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Closing text 1"/>
          <p:cNvSpPr txBox="1"/>
          <p:nvPr/>
        </p:nvSpPr>
        <p:spPr>
          <a:xfrm>
            <a:off x="82296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Discounts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Cap at 20% to 25%</a:t>
            </a:r>
            <a:endParaRPr lang="en-US" sz="2000" dirty="0"/>
          </a:p>
        </p:txBody>
      </p:sp>
      <p:sp>
        <p:nvSpPr>
          <p:cNvPr id="6" name="Closing card 2"/>
          <p:cNvSpPr/>
          <p:nvPr/>
        </p:nvSpPr>
        <p:spPr>
          <a:xfrm>
            <a:off x="3337560" y="292608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Closing text 2"/>
          <p:cNvSpPr txBox="1"/>
          <p:nvPr/>
        </p:nvSpPr>
        <p:spPr>
          <a:xfrm>
            <a:off x="352044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Furniture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Review pricing, Tables and Bookcases first</a:t>
            </a:r>
            <a:endParaRPr lang="en-US" sz="2000" dirty="0"/>
          </a:p>
        </p:txBody>
      </p:sp>
      <p:sp>
        <p:nvSpPr>
          <p:cNvPr id="8" name="Closing card 3"/>
          <p:cNvSpPr/>
          <p:nvPr/>
        </p:nvSpPr>
        <p:spPr>
          <a:xfrm>
            <a:off x="6035040" y="2926080"/>
            <a:ext cx="24688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Closing text 3"/>
          <p:cNvSpPr txBox="1"/>
          <p:nvPr/>
        </p:nvSpPr>
        <p:spPr>
          <a:xfrm>
            <a:off x="621792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Central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Bring discounting toward West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ED6-DB92-DA51-7AF0-E93EA6A63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5592" y="908050"/>
            <a:ext cx="6512815" cy="2321362"/>
          </a:xfrm>
        </p:spPr>
        <p:txBody>
          <a:bodyPr/>
          <a:lstStyle/>
          <a:p>
            <a:pPr algn="ctr"/>
            <a:r>
              <a:rPr lang="en-US" dirty="0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03579956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9</TotalTime>
  <Words>1020</Words>
  <Application>Microsoft Office PowerPoint</Application>
  <PresentationFormat>On-screen Show (16:9)</PresentationFormat>
  <Paragraphs>136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Helena</vt:lpstr>
      <vt:lpstr>Retail Sales Analytics Dashboard</vt:lpstr>
      <vt:lpstr>What management needs to know</vt:lpstr>
      <vt:lpstr>A $2.3M business earning a 12.5% margin</vt:lpstr>
      <vt:lpstr>Sales grew 51%, but margin stayed flat</vt:lpstr>
      <vt:lpstr>Sales peak every September, November and December</vt:lpstr>
      <vt:lpstr>Discounts above 25% lose money without selling more</vt:lpstr>
      <vt:lpstr>Furniture is a third of sales but earns almost nothing</vt:lpstr>
      <vt:lpstr>Central: deepest discounts, lowest margin</vt:lpstr>
      <vt:lpstr>Tables and Bookcases lose money; Copiers lead profit</vt:lpstr>
      <vt:lpstr>20% of customers generate 48% of sales</vt:lpstr>
      <vt:lpstr>Only 12% of customers return the next month</vt:lpstr>
      <vt:lpstr>Five actions for management</vt:lpstr>
      <vt:lpstr>Fix discounting, not demand</vt:lpstr>
      <vt:lpstr>Thank You.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Analytics Dashboard</dc:title>
  <dc:subject>PptxGenJS Presentation</dc:subject>
  <dc:creator>NexAfrica Data Analysis Internship</dc:creator>
  <cp:lastModifiedBy>Elizabeth Mawunyega</cp:lastModifiedBy>
  <cp:revision>2</cp:revision>
  <dcterms:created xsi:type="dcterms:W3CDTF">2026-10-11T18:07:23Z</dcterms:created>
  <dcterms:modified xsi:type="dcterms:W3CDTF">2026-10-12T02:15:56Z</dcterms:modified>
</cp:coreProperties>
</file>